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381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0C768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537F67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537F67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008728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wholeTbl>
    <a:band2H>
      <a:tcTxStyle b="def" i="def"/>
      <a:tcStyle>
        <a:tcBdr/>
        <a:fill>
          <a:solidFill>
            <a:srgbClr val="FFFB00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410732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41073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7370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F9DF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114748"/>
              <a:satOff val="1446"/>
              <a:lumOff val="-896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>
                  <a:hueOff val="114748"/>
                  <a:satOff val="1446"/>
                  <a:lumOff val="-896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satOff val="-21357"/>
              <a:lumOff val="-20662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782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7839"/>
            <a:ext cx="21971000" cy="2006601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21719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eometric gray stone architecture"/>
          <p:cNvSpPr/>
          <p:nvPr>
            <p:ph type="pic" idx="21"/>
          </p:nvPr>
        </p:nvSpPr>
        <p:spPr>
          <a:xfrm>
            <a:off x="0" y="-4381500"/>
            <a:ext cx="24384001" cy="1828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1945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eometric gray stone architecture"/>
          <p:cNvSpPr/>
          <p:nvPr>
            <p:ph type="pic" idx="21"/>
          </p:nvPr>
        </p:nvSpPr>
        <p:spPr>
          <a:xfrm>
            <a:off x="5707496" y="-660400"/>
            <a:ext cx="20053301" cy="150420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494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Angular stone architecture in light and shadow"/>
          <p:cNvSpPr/>
          <p:nvPr>
            <p:ph type="pic" idx="22"/>
          </p:nvPr>
        </p:nvSpPr>
        <p:spPr>
          <a:xfrm>
            <a:off x="12382500" y="0"/>
            <a:ext cx="219456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23558500" y="12483845"/>
            <a:ext cx="361188" cy="4041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500" y="3906899"/>
            <a:ext cx="21971004" cy="4648201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6000"/>
              </a:spcBef>
              <a:buSzTx/>
              <a:buNone/>
              <a:defRPr sz="5000"/>
            </a:lvl1pPr>
            <a:lvl2pPr marL="0" indent="457200" defTabSz="825500">
              <a:spcBef>
                <a:spcPts val="6000"/>
              </a:spcBef>
              <a:buSzTx/>
              <a:buNone/>
              <a:defRPr sz="5000"/>
            </a:lvl2pPr>
            <a:lvl3pPr marL="0" indent="914400" defTabSz="825500">
              <a:spcBef>
                <a:spcPts val="6000"/>
              </a:spcBef>
              <a:buSzTx/>
              <a:buNone/>
              <a:defRPr sz="5000"/>
            </a:lvl3pPr>
            <a:lvl4pPr marL="0" indent="1371600" defTabSz="825500">
              <a:spcBef>
                <a:spcPts val="6000"/>
              </a:spcBef>
              <a:buSzTx/>
              <a:buNone/>
              <a:defRPr sz="5000"/>
            </a:lvl4pPr>
            <a:lvl5pPr marL="0" indent="1828800" defTabSz="8255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7360"/>
            <a:ext cx="21971000" cy="7351451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28667"/>
          </a:xfrm>
          <a:prstGeom prst="rect">
            <a:avLst/>
          </a:prstGeom>
        </p:spPr>
        <p:txBody>
          <a:bodyPr anchor="b"/>
          <a:lstStyle>
            <a:lvl1pPr marL="254000" indent="-2540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5456257" y="9559997"/>
            <a:ext cx="13471486" cy="6985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Wavy pink and orange architecture against a blue sky"/>
          <p:cNvSpPr/>
          <p:nvPr>
            <p:ph type="pic" sz="quarter" idx="21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 angle view of the corner of a modern building under a clear blue sky"/>
          <p:cNvSpPr/>
          <p:nvPr>
            <p:ph type="pic" sz="quarter" idx="22"/>
          </p:nvPr>
        </p:nvSpPr>
        <p:spPr>
          <a:xfrm>
            <a:off x="146177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Low angle view of a stone bridge under a partly cloudy sky"/>
          <p:cNvSpPr/>
          <p:nvPr>
            <p:ph type="pic" sz="quarter" idx="23"/>
          </p:nvPr>
        </p:nvSpPr>
        <p:spPr>
          <a:xfrm>
            <a:off x="61386" y="3632200"/>
            <a:ext cx="9690101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 angle view of modern, metal building"/>
          <p:cNvSpPr/>
          <p:nvPr>
            <p:ph type="pic" idx="21"/>
          </p:nvPr>
        </p:nvSpPr>
        <p:spPr>
          <a:xfrm>
            <a:off x="-38100" y="-1295400"/>
            <a:ext cx="24447500" cy="1629551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23558500" y="12483845"/>
            <a:ext cx="361188" cy="4041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4B60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60642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500" y="12458699"/>
            <a:ext cx="388620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usrutha Vishal Koyyalamudi               Ashish Padavala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Susrutha Vishal Koyyalamudi               Ashish Padavala</a:t>
            </a:r>
          </a:p>
        </p:txBody>
      </p:sp>
      <p:sp>
        <p:nvSpPr>
          <p:cNvPr id="172" name="Data-driven Marketing using K-Means Algorithm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79" sz="80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Data-driven Marketing using K-Means Algorithm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What is Data-Driven Marketing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91" sz="91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What is Data-Driven Marketing?</a:t>
            </a:r>
          </a:p>
        </p:txBody>
      </p:sp>
      <p:sp>
        <p:nvSpPr>
          <p:cNvPr id="175" name="A marketing approach that uses data analytics to understand customer behaviors, preferences, and trends, enabling businesses to create personalized and effective campaigns based on actionable insights from real-world data."/>
          <p:cNvSpPr txBox="1"/>
          <p:nvPr>
            <p:ph type="body" sz="quarter" idx="1"/>
          </p:nvPr>
        </p:nvSpPr>
        <p:spPr>
          <a:xfrm>
            <a:off x="1206499" y="3339622"/>
            <a:ext cx="21971001" cy="2843131"/>
          </a:xfrm>
          <a:prstGeom prst="rect">
            <a:avLst/>
          </a:prstGeom>
        </p:spPr>
        <p:txBody>
          <a:bodyPr/>
          <a:lstStyle/>
          <a:p>
            <a:pPr/>
            <a:r>
              <a:t>A marketing approach that uses data analytics to understand customer behaviors, preferences, and trends, enabling businesses to create personalized and effective campaigns based on actionable insights from real-world data.</a:t>
            </a:r>
          </a:p>
        </p:txBody>
      </p:sp>
      <p:sp>
        <p:nvSpPr>
          <p:cNvPr id="176" name="What kind of Data?"/>
          <p:cNvSpPr txBox="1"/>
          <p:nvPr/>
        </p:nvSpPr>
        <p:spPr>
          <a:xfrm>
            <a:off x="1206499" y="7198275"/>
            <a:ext cx="21971001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2218888">
              <a:lnSpc>
                <a:spcPct val="90000"/>
              </a:lnSpc>
              <a:spcBef>
                <a:spcPts val="0"/>
              </a:spcBef>
              <a:defRPr spc="-91" sz="91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What kind of Data?</a:t>
            </a:r>
          </a:p>
        </p:txBody>
      </p:sp>
      <p:sp>
        <p:nvSpPr>
          <p:cNvPr id="177" name="Data that includes customer purchase history, trends, and spending habits."/>
          <p:cNvSpPr txBox="1"/>
          <p:nvPr/>
        </p:nvSpPr>
        <p:spPr>
          <a:xfrm>
            <a:off x="1206499" y="9902897"/>
            <a:ext cx="21971001" cy="2843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457200" indent="-457200">
              <a:buSzPct val="100000"/>
              <a:buChar char="•"/>
            </a:lvl1pPr>
          </a:lstStyle>
          <a:p>
            <a:pPr/>
            <a:r>
              <a:t>Data that includes customer purchase history, trends, and spending habits.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atase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91" sz="91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Dataset</a:t>
            </a:r>
          </a:p>
        </p:txBody>
      </p:sp>
      <p:sp>
        <p:nvSpPr>
          <p:cNvPr id="180" name="The dataset used is a collection of transactions from the UCI Machine Learning Repository.…"/>
          <p:cNvSpPr txBox="1"/>
          <p:nvPr>
            <p:ph type="body" idx="1"/>
          </p:nvPr>
        </p:nvSpPr>
        <p:spPr>
          <a:xfrm>
            <a:off x="1206500" y="3339622"/>
            <a:ext cx="21971000" cy="7036756"/>
          </a:xfrm>
          <a:prstGeom prst="rect">
            <a:avLst/>
          </a:prstGeom>
        </p:spPr>
        <p:txBody>
          <a:bodyPr/>
          <a:lstStyle/>
          <a:p>
            <a:pPr/>
            <a:r>
              <a:t>The dataset used is a collection of transactions from the UCI Machine Learning Repository.</a:t>
            </a:r>
          </a:p>
          <a:p>
            <a:pPr/>
            <a:r>
              <a:t>It includes the details of the transaction, details of the products purchased, temporal data, and the details of the customer.</a:t>
            </a:r>
          </a:p>
          <a:p>
            <a:pPr/>
            <a:r>
              <a:t>Extra features about the customer behavior is derived from the transaction data after performing Preprocessing and Cleaning.</a:t>
            </a:r>
          </a:p>
          <a:p>
            <a:pPr/>
            <a:r>
              <a:t>Derived features include Recency features, Frequency features and Monetary features.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91" sz="91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183" name="A clustering algorithm in machine learning that groups data points into distinct clusters based on their similarities.…"/>
          <p:cNvSpPr txBox="1"/>
          <p:nvPr>
            <p:ph type="body" sz="half" idx="1"/>
          </p:nvPr>
        </p:nvSpPr>
        <p:spPr>
          <a:xfrm>
            <a:off x="1206500" y="3339622"/>
            <a:ext cx="21971000" cy="3257247"/>
          </a:xfrm>
          <a:prstGeom prst="rect">
            <a:avLst/>
          </a:prstGeom>
        </p:spPr>
        <p:txBody>
          <a:bodyPr/>
          <a:lstStyle/>
          <a:p>
            <a:pPr/>
            <a:r>
              <a:t>A clustering algorithm in machine learning that groups data points into distinct clusters based on their similarities.</a:t>
            </a:r>
          </a:p>
          <a:p>
            <a:pPr/>
            <a:r>
              <a:t>Clusters customers with similar shopping behaviors together.</a:t>
            </a:r>
          </a:p>
        </p:txBody>
      </p:sp>
      <p:pic>
        <p:nvPicPr>
          <p:cNvPr id="184" name="AD_4nXc3qDxKGXFba3fc7Bp5_v85TEbTXPGa3vRxDiKpZPssGfJCUZBYKbJywKgWNO2zST5RhmYZmhyBWyTriw3VBz21jR81AJev3LGYkhAU3XI-o6Wm169By-8w724nb53cXIvCHKgE-w.png" descr="AD_4nXc3qDxKGXFba3fc7Bp5_v85TEbTXPGa3vRxDiKpZPssGfJCUZBYKbJywKgWNO2zST5RhmYZmhyBWyTriw3VBz21jR81AJev3LGYkhAU3XI-o6Wm169By-8w724nb53cXIvCHKgE-w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54024" y="7232362"/>
            <a:ext cx="9875952" cy="48140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Better than Random Fores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91" sz="91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Better than Random Forest?</a:t>
            </a:r>
          </a:p>
        </p:txBody>
      </p:sp>
      <p:sp>
        <p:nvSpPr>
          <p:cNvPr id="187" name="K-Means is specialized for clustering and segmentation tasks, while Random Forest is for Classification and Regression tasks.…"/>
          <p:cNvSpPr txBox="1"/>
          <p:nvPr>
            <p:ph type="body" idx="1"/>
          </p:nvPr>
        </p:nvSpPr>
        <p:spPr>
          <a:xfrm>
            <a:off x="1206500" y="3339622"/>
            <a:ext cx="21971000" cy="6873149"/>
          </a:xfrm>
          <a:prstGeom prst="rect">
            <a:avLst/>
          </a:prstGeom>
        </p:spPr>
        <p:txBody>
          <a:bodyPr/>
          <a:lstStyle/>
          <a:p>
            <a:pPr/>
            <a:r>
              <a:t>K-Means is specialized for clustering and segmentation tasks, while Random Forest is for Classification and Regression tasks.</a:t>
            </a:r>
          </a:p>
          <a:p>
            <a:pPr/>
            <a:r>
              <a:t>Can work with unlabeled data which is how most of the data is available as.</a:t>
            </a:r>
          </a:p>
          <a:p>
            <a:pPr/>
            <a:r>
              <a:t>Faster than Random Forest with large datasets.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hank You"/>
          <p:cNvSpPr txBox="1"/>
          <p:nvPr>
            <p:ph type="title"/>
          </p:nvPr>
        </p:nvSpPr>
        <p:spPr>
          <a:xfrm>
            <a:off x="1206499" y="4495502"/>
            <a:ext cx="21971001" cy="4724996"/>
          </a:xfrm>
          <a:prstGeom prst="rect">
            <a:avLst/>
          </a:prstGeom>
        </p:spPr>
        <p:txBody>
          <a:bodyPr anchor="ctr"/>
          <a:lstStyle>
            <a:lvl1pPr algn="ctr">
              <a:defRPr spc="-111" sz="111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7_MinimalistDark">
  <a:themeElements>
    <a:clrScheme name="37_MinimalistDark">
      <a:dk1>
        <a:srgbClr val="4B6079"/>
      </a:dk1>
      <a:lt1>
        <a:srgbClr val="FFFFFF"/>
      </a:lt1>
      <a:dk2>
        <a:srgbClr val="6F6F6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7_MinimalistDark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7_Minimalist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7_MinimalistDark">
  <a:themeElements>
    <a:clrScheme name="37_MinimalistDark">
      <a:dk1>
        <a:srgbClr val="000000"/>
      </a:dk1>
      <a:lt1>
        <a:srgbClr val="FFFFFF"/>
      </a:lt1>
      <a:dk2>
        <a:srgbClr val="6F6F6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7_MinimalistDark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7_Minimalist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